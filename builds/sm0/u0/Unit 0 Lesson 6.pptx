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6.xml"/><Relationship Id="rId4" Type="http://schemas.openxmlformats.org/officeDocument/2006/relationships/image" Target="../media/image2.png"/><Relationship Id="rId5" Type="http://schemas.openxmlformats.org/officeDocument/2006/relationships/slide" Target="slide7.xml"/><Relationship Id="rId6" Type="http://schemas.openxmlformats.org/officeDocument/2006/relationships/image" Target="../media/image3.png"/><Relationship Id="rId7" Type="http://schemas.openxmlformats.org/officeDocument/2006/relationships/slide" Target="slide8.xml"/><Relationship Id="rId8" Type="http://schemas.openxmlformats.org/officeDocument/2006/relationships/image" Target="../media/image4.png"/><Relationship Id="rId9" Type="http://schemas.openxmlformats.org/officeDocument/2006/relationships/slide" Target="slide9.xml"/><Relationship Id="rId10" Type="http://schemas.openxmlformats.org/officeDocument/2006/relationships/image" Target="../media/image5.png"/><Relationship Id="rId11" Type="http://schemas.openxmlformats.org/officeDocument/2006/relationships/slide" Target="slide10.xml"/><Relationship Id="rId12" Type="http://schemas.openxmlformats.org/officeDocument/2006/relationships/image" Target="../media/image6.png"/><Relationship Id="rId13" Type="http://schemas.openxmlformats.org/officeDocument/2006/relationships/slide" Target="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slide" Target="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Relationship Id="rId3" Type="http://schemas.openxmlformats.org/officeDocument/2006/relationships/slide" Target="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6B35"/>
                </a:solidFill>
                <a:latin typeface="Segoe UI"/>
              </a:rPr>
              <a:t>Unit 0 ·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F2A44"/>
                </a:solidFill>
                <a:latin typeface="Segoe UI"/>
              </a:rPr>
              <a:t>Say Hello! 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6B7488"/>
                </a:solidFill>
                <a:latin typeface="Segoe UI"/>
              </a:rPr>
              <a:t>Revision + Test · Super Minds Starter · WowSpeak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2A44"/>
                </a:solidFill>
                <a:latin typeface="Segoe UI"/>
              </a:rPr>
              <a:t>How are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37744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1F2A44"/>
                </a:solidFill>
                <a:latin typeface="Segoe UI"/>
              </a:rPr>
              <a:t>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2062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  <a:latin typeface="Segoe UI"/>
              </a:rPr>
              <a:t>happy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237744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1F2A44"/>
                </a:solidFill>
                <a:latin typeface="Segoe UI"/>
              </a:rPr>
              <a:t>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42062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  <a:latin typeface="Segoe UI"/>
              </a:rPr>
              <a:t>sad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1F2A44"/>
                </a:solidFill>
                <a:latin typeface="Segoe UI"/>
              </a:rPr>
              <a:t>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2062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6B35"/>
                </a:solidFill>
                <a:latin typeface="Segoe UI"/>
              </a:rPr>
              <a:t>angry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"/>
              </a:rPr>
              <a:t>Read! 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1F2A44"/>
                </a:solidFill>
                <a:latin typeface="Segoe UI"/>
              </a:rPr>
              <a:t>sat    pin    ten   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1F2A44"/>
                </a:solidFill>
                <a:latin typeface="Segoe UI"/>
              </a:rPr>
              <a:t>kit    dad    rat    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Ребёнок читает сам. Второй круг — быстрее.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1F2A44"/>
                </a:solidFill>
                <a:latin typeface="Segoe UI"/>
              </a:rPr>
              <a:t>HW check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"/>
              </a:rPr>
              <a:t>Поймай цвет! 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6B7488"/>
                </a:solidFill>
                <a:latin typeface="Segoe UI"/>
              </a:rPr>
              <a:t>Listen and click: "Click red!"</a:t>
            </a:r>
          </a:p>
        </p:txBody>
      </p:sp>
      <p:pic>
        <p:nvPicPr>
          <p:cNvPr id="4" name="Picture 3" descr="red.png">
            <a:hlinkClick action="ppaction://hlinksldjump"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011680"/>
            <a:ext cx="1260653" cy="2011680"/>
          </a:xfrm>
          <a:prstGeom prst="rect">
            <a:avLst/>
          </a:prstGeom>
        </p:spPr>
      </p:pic>
      <p:pic>
        <p:nvPicPr>
          <p:cNvPr id="5" name="Picture 4" descr="green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11680"/>
            <a:ext cx="1233830" cy="2011680"/>
          </a:xfrm>
          <a:prstGeom prst="rect">
            <a:avLst/>
          </a:prstGeom>
        </p:spPr>
      </p:pic>
      <p:pic>
        <p:nvPicPr>
          <p:cNvPr id="6" name="Picture 5" descr="blue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011680"/>
            <a:ext cx="1233830" cy="2011680"/>
          </a:xfrm>
          <a:prstGeom prst="rect">
            <a:avLst/>
          </a:prstGeom>
        </p:spPr>
      </p:pic>
      <p:pic>
        <p:nvPicPr>
          <p:cNvPr id="7" name="Picture 6" descr="orange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4297680"/>
            <a:ext cx="1260653" cy="2011680"/>
          </a:xfrm>
          <a:prstGeom prst="rect">
            <a:avLst/>
          </a:prstGeom>
        </p:spPr>
      </p:pic>
      <p:pic>
        <p:nvPicPr>
          <p:cNvPr id="8" name="Picture 7" descr="pink.png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297680"/>
            <a:ext cx="1247242" cy="2011680"/>
          </a:xfrm>
          <a:prstGeom prst="rect">
            <a:avLst/>
          </a:prstGeom>
        </p:spPr>
      </p:pic>
      <p:pic>
        <p:nvPicPr>
          <p:cNvPr id="9" name="Picture 8" descr="yellow.png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0" y="4297680"/>
            <a:ext cx="1247242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Клик по шарику открывает его название — проверка себя.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red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48282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green</a:t>
            </a:r>
          </a:p>
        </p:txBody>
      </p:sp>
      <p:pic>
        <p:nvPicPr>
          <p:cNvPr id="3" name="Picture 2" descr="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06829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blue</a:t>
            </a:r>
          </a:p>
        </p:txBody>
      </p:sp>
      <p:pic>
        <p:nvPicPr>
          <p:cNvPr id="3" name="Picture 2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06829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orange</a:t>
            </a:r>
          </a:p>
        </p:txBody>
      </p:sp>
      <p:pic>
        <p:nvPicPr>
          <p:cNvPr id="3" name="Picture 2" descr="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48282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pink</a:t>
            </a:r>
          </a:p>
        </p:txBody>
      </p:sp>
      <p:pic>
        <p:nvPicPr>
          <p:cNvPr id="3" name="Picture 2" descr="p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27555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6B35"/>
                </a:solidFill>
                <a:latin typeface="Segoe UI"/>
              </a:rPr>
              <a:t>yellow</a:t>
            </a:r>
          </a:p>
        </p:txBody>
      </p:sp>
      <p:pic>
        <p:nvPicPr>
          <p:cNvPr id="3" name="Picture 2" descr="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2011680"/>
            <a:ext cx="1927555" cy="310896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3992727" y="5486400"/>
            <a:ext cx="4206240" cy="73152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↩ назад к шарикам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How many? 🔢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2011680"/>
            <a:ext cx="1489862" cy="2377440"/>
          </a:xfrm>
          <a:prstGeom prst="rect">
            <a:avLst/>
          </a:prstGeom>
        </p:spPr>
      </p:pic>
      <p:pic>
        <p:nvPicPr>
          <p:cNvPr id="4" name="Picture 3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2011680"/>
            <a:ext cx="1489862" cy="2377440"/>
          </a:xfrm>
          <a:prstGeom prst="rect">
            <a:avLst/>
          </a:prstGeom>
        </p:spPr>
      </p:pic>
      <p:pic>
        <p:nvPicPr>
          <p:cNvPr id="5" name="Picture 4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2011680"/>
            <a:ext cx="1489862" cy="2377440"/>
          </a:xfrm>
          <a:prstGeom prst="rect">
            <a:avLst/>
          </a:prstGeom>
        </p:spPr>
      </p:pic>
      <p:pic>
        <p:nvPicPr>
          <p:cNvPr id="6" name="Picture 5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447" y="2011680"/>
            <a:ext cx="1489862" cy="2377440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449927" y="5120640"/>
            <a:ext cx="329184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2A44"/>
                </a:solidFill>
                <a:latin typeface="Segoe UI"/>
              </a:rPr>
              <a:t>Проверить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2EA84F"/>
                </a:solidFill>
                <a:latin typeface="Segoe UI"/>
              </a:rPr>
              <a:t>4 — four 🎉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4632807" y="5120640"/>
            <a:ext cx="292608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2A44"/>
                </a:solidFill>
                <a:latin typeface="Segoe UI"/>
              </a:rPr>
              <a:t>Дальше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How many? 🔢</a:t>
            </a:r>
          </a:p>
        </p:txBody>
      </p:sp>
      <p:pic>
        <p:nvPicPr>
          <p:cNvPr id="3" name="Picture 2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2011680"/>
            <a:ext cx="1458163" cy="2377440"/>
          </a:xfrm>
          <a:prstGeom prst="rect">
            <a:avLst/>
          </a:prstGeom>
        </p:spPr>
      </p:pic>
      <p:pic>
        <p:nvPicPr>
          <p:cNvPr id="4" name="Picture 3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2011680"/>
            <a:ext cx="1458163" cy="2377440"/>
          </a:xfrm>
          <a:prstGeom prst="rect">
            <a:avLst/>
          </a:prstGeom>
        </p:spPr>
      </p:pic>
      <p:pic>
        <p:nvPicPr>
          <p:cNvPr id="5" name="Picture 4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2011680"/>
            <a:ext cx="1458163" cy="2377440"/>
          </a:xfrm>
          <a:prstGeom prst="rect">
            <a:avLst/>
          </a:prstGeom>
        </p:spPr>
      </p:pic>
      <p:pic>
        <p:nvPicPr>
          <p:cNvPr id="6" name="Picture 5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7" y="2011680"/>
            <a:ext cx="1458163" cy="2377440"/>
          </a:xfrm>
          <a:prstGeom prst="rect">
            <a:avLst/>
          </a:prstGeom>
        </p:spPr>
      </p:pic>
      <p:pic>
        <p:nvPicPr>
          <p:cNvPr id="7" name="Picture 6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47" y="2011680"/>
            <a:ext cx="1458163" cy="2377440"/>
          </a:xfrm>
          <a:prstGeom prst="rect">
            <a:avLst/>
          </a:prstGeom>
        </p:spPr>
      </p:pic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4449927" y="5120640"/>
            <a:ext cx="329184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2A44"/>
                </a:solidFill>
                <a:latin typeface="Segoe UI"/>
              </a:rPr>
              <a:t>Проверить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2EA84F"/>
                </a:solidFill>
                <a:latin typeface="Segoe UI"/>
              </a:rPr>
              <a:t>5 — five 🎉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4632807" y="5120640"/>
            <a:ext cx="292608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2A44"/>
                </a:solidFill>
                <a:latin typeface="Segoe UI"/>
              </a:rPr>
              <a:t>Дальше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How many? 🔢</a:t>
            </a:r>
          </a:p>
        </p:txBody>
      </p:sp>
      <p:pic>
        <p:nvPicPr>
          <p:cNvPr id="3" name="Picture 2" descr="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2011680"/>
            <a:ext cx="1474013" cy="2377440"/>
          </a:xfrm>
          <a:prstGeom prst="rect">
            <a:avLst/>
          </a:prstGeom>
        </p:spPr>
      </p:pic>
      <p:pic>
        <p:nvPicPr>
          <p:cNvPr id="4" name="Picture 3" descr="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2011680"/>
            <a:ext cx="1474013" cy="2377440"/>
          </a:xfrm>
          <a:prstGeom prst="rect">
            <a:avLst/>
          </a:prstGeom>
        </p:spPr>
      </p:pic>
      <p:pic>
        <p:nvPicPr>
          <p:cNvPr id="5" name="Picture 4" descr="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7" y="2011680"/>
            <a:ext cx="1474013" cy="2377440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449927" y="5120640"/>
            <a:ext cx="329184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2A44"/>
                </a:solidFill>
                <a:latin typeface="Segoe UI"/>
              </a:rPr>
              <a:t>Проверить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2EA84F"/>
                </a:solidFill>
                <a:latin typeface="Segoe UI"/>
              </a:rPr>
              <a:t>3 — three 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"/>
              </a:rPr>
              <a:t>Кубик и чтение 🎲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828800" y="173736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1   sat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846320" y="173736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2   pin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7863840" y="173736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3   ten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828800" y="320040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4   red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4846320" y="320040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5   kit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863840" y="3200400"/>
            <a:ext cx="2560320" cy="109728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2A44"/>
                </a:solidFill>
                <a:latin typeface="Segoe UI"/>
              </a:rPr>
              <a:t>6   dad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3809847" y="4937760"/>
            <a:ext cx="4572000" cy="914400"/>
          </a:xfrm>
          <a:prstGeom prst="roundRect">
            <a:avLst/>
          </a:prstGeom>
          <a:solidFill>
            <a:srgbClr val="FFE8DC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35"/>
                </a:solidFill>
                <a:latin typeface="Segoe UI"/>
              </a:rPr>
              <a:t>🎲  бросить кубик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Кубик идёт по кругу 1→6: каждый клик — следующее слово.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sat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pin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ten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red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kit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🎲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Segoe UI"/>
              </a:rPr>
              <a:t>dad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29184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🎲 ещё раз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6309360" y="5303520"/>
            <a:ext cx="2743200" cy="82296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↩ к словам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1F2A44"/>
                </a:solidFill>
                <a:latin typeface="Segoe UI"/>
              </a:rPr>
              <a:t>Test 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Unit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291840"/>
            <a:ext cx="7406640" cy="914400"/>
          </a:xfrm>
          <a:prstGeom prst="roundRect">
            <a:avLst/>
          </a:prstGeom>
          <a:solidFill>
            <a:srgbClr val="EFF3FB"/>
          </a:solidFill>
          <a:ln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2A44"/>
                </a:solidFill>
                <a:latin typeface="Segoe UI"/>
              </a:rPr>
              <a:t>ссылку на тест вставить сюда перед уроком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2EA84F"/>
                </a:solidFill>
                <a:latin typeface="Segoe UI"/>
              </a:rPr>
              <a:t>You can do it! 💪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"/>
              </a:rPr>
              <a:t>Я могу!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0"/>
            <a:ext cx="822960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>
                <a:solidFill>
                  <a:srgbClr val="1F2A44"/>
                </a:solidFill>
                <a:latin typeface="Segoe UI"/>
              </a:rPr>
              <a:t>Здороваться и знакомиться: Hello! I’m …</a:t>
            </a:r>
          </a:p>
          <a:p>
            <a:pPr algn="l"/>
            <a:r>
              <a:rPr sz="3000" b="0">
                <a:solidFill>
                  <a:srgbClr val="1F2A44"/>
                </a:solidFill>
                <a:latin typeface="Segoe UI"/>
              </a:rPr>
              <a:t>Называть цвета: red, green, blue, orange, pink, yellow</a:t>
            </a:r>
          </a:p>
          <a:p>
            <a:pPr algn="l"/>
            <a:r>
              <a:rPr sz="3000" b="0">
                <a:solidFill>
                  <a:srgbClr val="1F2A44"/>
                </a:solidFill>
                <a:latin typeface="Segoe UI"/>
              </a:rPr>
              <a:t>Считать до 10</a:t>
            </a:r>
          </a:p>
          <a:p>
            <a:pPr algn="l"/>
            <a:r>
              <a:rPr sz="3000" b="0">
                <a:solidFill>
                  <a:srgbClr val="1F2A44"/>
                </a:solidFill>
                <a:latin typeface="Segoe UI"/>
              </a:rPr>
              <a:t>Читать слова: sat, pin, ten, red, kit, dad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2A44"/>
                </a:solidFill>
                <a:latin typeface="Segoe UI"/>
              </a:rPr>
              <a:t>Assign HW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6B35"/>
                </a:solidFill>
                <a:latin typeface="Segoe UI"/>
              </a:rPr>
              <a:t>NO HW — юнит закончен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"/>
              </a:rPr>
              <a:t>Rate the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F2A44"/>
                </a:solidFill>
                <a:latin typeface="Segoe UI"/>
              </a:rPr>
              <a:t>⭐ ⭐ ⭐ ⭐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6B35"/>
                </a:solidFill>
                <a:latin typeface="Segoe UI"/>
              </a:rPr>
              <a:t>Bye-bye! 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⏱ Reading 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1F2A44"/>
                </a:solidFill>
                <a:latin typeface="Segoe UI"/>
              </a:rPr>
              <a:t>sat  pin  ten  red  kit  dad  rat  pen  den 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Кто быстрее и без ошибок прочитает строку. Побей свой рекорд.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🔍 Find &amp;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64592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64592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926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926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20624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20624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20624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F2A44"/>
                </a:solidFill>
                <a:latin typeface="Segoe UI"/>
              </a:rPr>
              <a:t>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Учитель называет слово — ребёнок находит его и читает вслух.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Segoe UI"/>
              </a:rPr>
              <a:t>🎯 Colour bingo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45920"/>
            <a:ext cx="1203350" cy="1920240"/>
          </a:xfrm>
          <a:prstGeom prst="rect">
            <a:avLst/>
          </a:prstGeom>
        </p:spPr>
      </p:pic>
      <p:pic>
        <p:nvPicPr>
          <p:cNvPr id="4" name="Picture 3" descr="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45920"/>
            <a:ext cx="1177747" cy="1920240"/>
          </a:xfrm>
          <a:prstGeom prst="rect">
            <a:avLst/>
          </a:prstGeom>
        </p:spPr>
      </p:pic>
      <p:pic>
        <p:nvPicPr>
          <p:cNvPr id="5" name="Picture 4" descr="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645920"/>
            <a:ext cx="1177747" cy="1920240"/>
          </a:xfrm>
          <a:prstGeom prst="rect">
            <a:avLst/>
          </a:prstGeom>
        </p:spPr>
      </p:pic>
      <p:pic>
        <p:nvPicPr>
          <p:cNvPr id="6" name="Picture 5" descr="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840480"/>
            <a:ext cx="1203350" cy="1920240"/>
          </a:xfrm>
          <a:prstGeom prst="rect">
            <a:avLst/>
          </a:prstGeom>
        </p:spPr>
      </p:pic>
      <p:pic>
        <p:nvPicPr>
          <p:cNvPr id="7" name="Picture 6" descr="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40480"/>
            <a:ext cx="1190549" cy="1920240"/>
          </a:xfrm>
          <a:prstGeom prst="rect">
            <a:avLst/>
          </a:prstGeom>
        </p:spPr>
      </p:pic>
      <p:pic>
        <p:nvPicPr>
          <p:cNvPr id="8" name="Picture 7" descr="yel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3840480"/>
            <a:ext cx="1190549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A93A6"/>
                </a:solidFill>
                <a:latin typeface="Segoe UI"/>
              </a:rPr>
              <a:t>Учитель называет цвета подряд — ребёнок отмечает, кто первым соберёт ряд.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